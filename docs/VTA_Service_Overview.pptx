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7315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Verifiable Trust Agent (VTA)</a:t>
            </a:r>
          </a:p>
          <a:p>
            <a:pPr algn="ctr"/>
            <a:r>
              <a:rPr sz="3600" b="0">
                <a:solidFill>
                  <a:srgbClr val="BBDEFB"/>
                </a:solidFill>
                <a:latin typeface="Calibri"/>
              </a:rPr>
              <a:t>Architecture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90CAF9"/>
                </a:solidFill>
                <a:latin typeface="Calibri"/>
              </a:rPr>
              <a:t>First Person Network  |  March 2026</a:t>
            </a:r>
          </a:p>
          <a:p>
            <a:pPr algn="ctr">
              <a:spcBef>
                <a:spcPts val="800"/>
              </a:spcBef>
            </a:pPr>
            <a:r>
              <a:rPr sz="1400" b="0">
                <a:solidFill>
                  <a:srgbClr val="789EC2"/>
                </a:solidFill>
                <a:latin typeface="Calibri"/>
              </a:rPr>
              <a:t>verifiable-trust-infrastructure workspace: VTA Service · VTC Service · PNM CLI · CNM CLI · VTA SDK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System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800" b="1">
                <a:solidFill>
                  <a:srgbClr val="2E75B6"/>
                </a:solidFill>
                <a:latin typeface="Calibri"/>
              </a:rPr>
              <a:t>First Person Network (FPN)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A decentralized identity &amp; trust framework where individuals and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communities own their cryptographic keys and credentials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666666"/>
                </a:solidFill>
                <a:latin typeface="Calibri"/>
              </a:rPr>
              <a:t>Anchored on DID-based identity (did:webvh, did:key)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800" b="1">
                <a:solidFill>
                  <a:srgbClr val="2E75B6"/>
                </a:solidFill>
                <a:latin typeface="Calibri"/>
              </a:rPr>
              <a:t>Verifiable Trust Agent (VTA)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Personal cryptographic agent — manages keys, DIDs, credentials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Runs as a local service; communicates via REST API and DIDComm v2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BIP-32 hierarchical deterministic key derivation from a BIP-39 mnemonic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Context provisioning for portable application onboarding bundles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800" b="1">
                <a:solidFill>
                  <a:srgbClr val="2E75B6"/>
                </a:solidFill>
                <a:latin typeface="Calibri"/>
              </a:rPr>
              <a:t>Verifiable Trust Community (VTC)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Community-level service — manages membership, ACLs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No local key management; receives keys from a VTA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Provides authentication and authorization for community members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097280"/>
            <a:ext cx="2194560" cy="109728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400" b="1">
                <a:solidFill>
                  <a:srgbClr val="1B3A5C"/>
                </a:solidFill>
                <a:latin typeface="Calibri"/>
              </a:rPr>
              <a:t>Person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Owns a VTA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Manages personal keys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Joins communities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1097280"/>
            <a:ext cx="2560320" cy="109728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400" b="1">
                <a:solidFill>
                  <a:srgbClr val="1B3A5C"/>
                </a:solidFill>
                <a:latin typeface="Calibri"/>
              </a:rPr>
              <a:t>Community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Runs a VTC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Defines membership ACL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Receives keys from VTAs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237744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2E75B6"/>
                </a:solidFill>
                <a:latin typeface="Calibri"/>
              </a:rPr>
              <a:t>────  DIDComm v2 / REST  ────▶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3017520"/>
            <a:ext cx="5120640" cy="13716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8BC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400" b="1">
                <a:solidFill>
                  <a:srgbClr val="1B3A5C"/>
                </a:solidFill>
                <a:latin typeface="Calibri"/>
              </a:rPr>
              <a:t>WebVH Server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Hosts did:webvh documents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REST API + DIDComm transport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DID lifecycle: allocate → publish → update → deactivate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4754880"/>
            <a:ext cx="5120640" cy="13716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400" b="1">
                <a:solidFill>
                  <a:srgbClr val="1B3A5C"/>
                </a:solidFill>
                <a:latin typeface="Calibri"/>
              </a:rPr>
              <a:t>DIDComm Mediator (ATM)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Routes encrypted DIDComm messages between agents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WebSocket-based live delivery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Message pickup &amp; forwarding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Component Overview — Workspace at a Glance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97280"/>
            <a:ext cx="2148840" cy="237744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400" b="1">
                <a:solidFill>
                  <a:srgbClr val="1B3A5C"/>
                </a:solidFill>
                <a:latin typeface="Calibri"/>
              </a:rPr>
              <a:t>VTA Service  v0.1.2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Personal cryptographic agent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REST API + DIDComm messaging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BIP-32 key derivation, contexts, ACL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Context provisioning + cascading delete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Serverless did:webvh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520440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Calibri"/>
              </a:rPr>
              <a:t>vta-service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97479" y="1097280"/>
            <a:ext cx="2148840" cy="237744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400" b="1">
                <a:solidFill>
                  <a:srgbClr val="1B3A5C"/>
                </a:solidFill>
                <a:latin typeface="Calibri"/>
              </a:rPr>
              <a:t>VTC Service  v0.1.1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Community trust service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REST API + DIDComm messaging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No local key management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Membership ACL only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Default port: 8200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97479" y="3520440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Calibri"/>
              </a:rPr>
              <a:t>vtc-service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097280"/>
            <a:ext cx="2148840" cy="237744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400" b="1">
                <a:solidFill>
                  <a:srgbClr val="1B3A5C"/>
                </a:solidFill>
                <a:latin typeface="Calibri"/>
              </a:rPr>
              <a:t>PNM CLI  v0.1.1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Personal Network Manager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Single VTA management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Context provision/reprovision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Keys bundle export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WebVH + serverless DIDs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520440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Calibri"/>
              </a:rPr>
              <a:t>pnm-cli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0919" y="1097280"/>
            <a:ext cx="2148840" cy="237744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400" b="1">
                <a:solidFill>
                  <a:srgbClr val="1B3A5C"/>
                </a:solidFill>
                <a:latin typeface="Calibri"/>
              </a:rPr>
              <a:t>CNM CLI  v0.1.1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Community Network Manager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Multi-community support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Community add/use/remove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Cross-VTA session bootstrap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Shared SDK with PNM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19" y="3520440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Calibri"/>
              </a:rPr>
              <a:t>cnm-cli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92640" y="1097280"/>
            <a:ext cx="2148840" cy="237744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400" b="1">
                <a:solidFill>
                  <a:srgbClr val="1B3A5C"/>
                </a:solidFill>
                <a:latin typeface="Calibri"/>
              </a:rPr>
              <a:t>VTA SDK  v0.1.1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Shared client library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REST + DIDComm transport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Pluggable SessionBackend trait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Context provision bundle codec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Used by PNM and CNM CLIs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3520440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Calibri"/>
              </a:rPr>
              <a:t>vta-sdk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1148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800" b="1">
                <a:solidFill>
                  <a:srgbClr val="2E75B6"/>
                </a:solidFill>
                <a:latin typeface="Calibri"/>
              </a:rPr>
              <a:t>Shared Infrastructure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affinidi-tdk 0.6 — DIDComm messaging, secrets resolver, DID crypto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affinidi-did-resolver-cache-sdk 0.8 — DID resolution with in-memory cache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fjall — Embedded LSM-tree key-value store (keys, sessions, ACL, contexts, webvh keyspaces)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didwebvh-rs 0.3 — Verifiable History DID method (create, update, deactivate)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VTA Service —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800" b="1">
                <a:solidFill>
                  <a:srgbClr val="2E75B6"/>
                </a:solidFill>
                <a:latin typeface="Calibri"/>
              </a:rPr>
              <a:t>Key Management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BIP-39 mnemonic → BIP-32 HD key derivation tree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Ed25519 signing keys + X25519 key-agreement keys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Keys organized into named contexts with derivation path counters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666666"/>
                </a:solidFill>
                <a:latin typeface="Calibri"/>
              </a:rPr>
              <a:t>Path format:  m/purpose'/context'/index'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800" b="1">
                <a:solidFill>
                  <a:srgbClr val="2E75B6"/>
                </a:solidFill>
                <a:latin typeface="Calibri"/>
              </a:rPr>
              <a:t>Contexts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Named groupings of keys (e.g., 'vta', 'mediator', 'community')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Each context has a description and auto-incrementing key index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Context provisioning: single-step create + admin credential bundle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800" b="1">
                <a:solidFill>
                  <a:srgbClr val="2E75B6"/>
                </a:solidFill>
                <a:latin typeface="Calibri"/>
              </a:rPr>
              <a:t>ACL &amp; Credentials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DID-based ACL entries with roles: Admin, Initiator, Application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Admin can be super (all contexts) or scoped to specific contexts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Credential bundles issued for automated auth (base64url-encoded)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800" b="1">
                <a:solidFill>
                  <a:srgbClr val="2E75B6"/>
                </a:solidFill>
                <a:latin typeface="Calibri"/>
              </a:rPr>
              <a:t>Storage — fjall Keyspaces (v0.1.2)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keys — key records, path counters, seed metadata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sessions — auth sessions + refresh token reverse index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acl — DID-to-role/context mappings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contexts — context records + global counter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webvh — server records, DID records, DID logs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097280"/>
            <a:ext cx="5303520" cy="146304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400" b="1">
                <a:solidFill>
                  <a:srgbClr val="1B3A5C"/>
                </a:solidFill>
                <a:latin typeface="Calibri"/>
              </a:rPr>
              <a:t>Thread: vta-rest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Axum HTTP server on dedicated single-threaded Tokio runtime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All REST routes: health, auth, keys, contexts, ACL, config, webvh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Holds AppState with all keyspace handles and DIDComm bridge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Graceful shutdown via watch::channel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2834640"/>
            <a:ext cx="5303520" cy="146304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400" b="1">
                <a:solidFill>
                  <a:srgbClr val="1B3A5C"/>
                </a:solidFill>
                <a:latin typeface="Calibri"/>
              </a:rPr>
              <a:t>Thread: vta-didcomm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ATM mediator connection over WebSocket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Loads signing + key-agreement secrets into ThreadedSecretsResolver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Dispatches inbound messages to protocol handlers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Publishes DIDCommBridge for outbound messages from REST thread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4572000"/>
            <a:ext cx="5303520" cy="118872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400" b="1">
                <a:solidFill>
                  <a:srgbClr val="1B3A5C"/>
                </a:solidFill>
                <a:latin typeface="Calibri"/>
              </a:rPr>
              <a:t>Thread: vta-storage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Periodic session cleanup (expired challenges + sessions)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Flushes fjall to disk on shutdown (always last thread to join)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Configurable cleanup interval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VTC Service — Community Trust 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800" b="1">
                <a:solidFill>
                  <a:srgbClr val="2E75B6"/>
                </a:solidFill>
                <a:latin typeface="Calibri"/>
              </a:rPr>
              <a:t>Purpose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Manages community membership and access control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Acts as the trust anchor for a community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Authenticates members via DID challenge-response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800" b="1">
                <a:solidFill>
                  <a:srgbClr val="2E75B6"/>
                </a:solidFill>
                <a:latin typeface="Calibri"/>
              </a:rPr>
              <a:t>Key Differences from VTA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No BIP-32 key derivation — receives 64 raw bytes from VTA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666666"/>
                </a:solidFill>
                <a:latin typeface="Calibri"/>
              </a:rPr>
              <a:t>  (32 bytes Ed25519 + 32 bytes X25519)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No contexts or key management routes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Only 2 keyspaces: sessions and acl (vs. 5 in VTA)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SecretStore trait instead of SeedStore (get/set/delete)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800" b="1">
                <a:solidFill>
                  <a:srgbClr val="2E75B6"/>
                </a:solidFill>
                <a:latin typeface="Calibri"/>
              </a:rPr>
              <a:t>Routes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GET /health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POST /auth/challenge, /auth/, /auth/refresh, /auth/credentials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GET|DELETE /auth/sessions, DELETE /auth/sessions/{id}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GET|PATCH /config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GET|POST /acl, GET|PATCH|DELETE /acl/{did}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097280"/>
            <a:ext cx="2560320" cy="27432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400" b="1">
                <a:solidFill>
                  <a:srgbClr val="1B3A5C"/>
                </a:solidFill>
                <a:latin typeface="Calibri"/>
              </a:rPr>
              <a:t>VTA  v0.1.2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Port: 8100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JWT Audience: VTA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Env prefix: VTA_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BIP-32 key derivation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5 fjall keyspaces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Keys + Contexts routes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WebVH integration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SeedStore trait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Service type: VTARest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1097280"/>
            <a:ext cx="2560320" cy="27432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400" b="1">
                <a:solidFill>
                  <a:srgbClr val="1B3A5C"/>
                </a:solidFill>
                <a:latin typeface="Calibri"/>
              </a:rPr>
              <a:t>VTC  v0.1.1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Port: 8200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JWT Audience: VTC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Env prefix: VTC_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Raw key bytes from VTA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2 fjall keyspaces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ACL routes only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No WebVH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SecretStore trait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Svc: VerifiableTrustCommunity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4206240"/>
            <a:ext cx="5303520" cy="9144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400" b="1">
                <a:solidFill>
                  <a:srgbClr val="1B3A5C"/>
                </a:solidFill>
                <a:latin typeface="Calibri"/>
              </a:rPr>
              <a:t>VTC Configuration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vta_did — points to the community's VTA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Same config.toml structure, same seed storage backends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CLI Tools: PNM &amp; CNM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97280"/>
            <a:ext cx="5486400" cy="50292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400" b="1">
                <a:solidFill>
                  <a:srgbClr val="1B3A5C"/>
                </a:solidFill>
                <a:latin typeface="Calibri"/>
              </a:rPr>
              <a:t>PNM — Personal Network Manager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Manages a single personal VTA instance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Commands: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  health          —  Service health + DID resolution + mediator trust-ping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  auth login/logout/status  —  Session management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  config get/update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  keys list/create/get/revoke/rename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  keys secrets/seeds/rotate-seed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  contexts list/get/create/update/delete/bootstrap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  contexts provision/reprovision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  acl list/get/create/update/delete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  auth-credential create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  keys bundle             —  Export DID secrets bundle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  setup                   —  Interactive VTA setup wizard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  webvh add-server / list-servers / update-server / remove-server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  webvh create-did (incl. serverless) / list-dids / get-did / delete-did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097280"/>
            <a:ext cx="5486400" cy="50292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400" b="1">
                <a:solidFill>
                  <a:srgbClr val="1B3A5C"/>
                </a:solidFill>
                <a:latin typeface="Calibri"/>
              </a:rPr>
              <a:t>CNM — Community Network Manager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Manages one or more community VTAs (multi-community)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Additional Commands: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  community list/use/add/remove/status/ping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Key Differences from PNM: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  •  CnmConfig with communities map (named communities)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  •  Per-community keyring credentials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  •  community use  —  switch active community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  •  community ping  —  DIDComm trust-ping to community VTA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  •  Optional personal_vta pointer for session bootstrapping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  •  No webvh commands (managed via PNM/VTA directly)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Shared Foundation: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  Both CLIs use vta-sdk and vta-cli-common crate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  Same auth flow, same REST/DIDComm transport layer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WebVH Server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800" b="1">
                <a:solidFill>
                  <a:srgbClr val="2E75B6"/>
                </a:solidFill>
                <a:latin typeface="Calibri"/>
              </a:rPr>
              <a:t>What is did:webvh?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Verifiable History DID method — web-hosted DID documents with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cryptographic audit trail (did.jsonl log entries)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666666"/>
                </a:solidFill>
                <a:latin typeface="Calibri"/>
              </a:rPr>
              <a:t>Supports portability, pre-rotation keys, and serverless mode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800" b="1">
                <a:solidFill>
                  <a:srgbClr val="2E75B6"/>
                </a:solidFill>
                <a:latin typeface="Calibri"/>
              </a:rPr>
              <a:t>Server Registration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Servers stored in fjall webvh keyspace with ID, DID, and label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VTA resolves server DID document to find WebVHHostingService endpoint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Picks REST vs DIDComm transport based on available endpoints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3566160"/>
            <a:ext cx="5486400" cy="256032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400" b="1">
                <a:solidFill>
                  <a:srgbClr val="1B3A5C"/>
                </a:solidFill>
                <a:latin typeface="Calibri"/>
              </a:rPr>
              <a:t>REST Transport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POST /api/dids           —  Allocate DID URI (returns did_url + mnemonic)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PUT  /api/dids/{mnemonic} —  Publish signed did.jsonl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DELETE /api/dids/{mnemonic} —  Remove a DID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POST /api/dids/check      —  Check path availability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Auth: Bearer {access_token} when configured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Content-Type: application/jsonl for publish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97280"/>
            <a:ext cx="5486400" cy="210312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400" b="1">
                <a:solidFill>
                  <a:srgbClr val="1B3A5C"/>
                </a:solidFill>
                <a:latin typeface="Calibri"/>
              </a:rPr>
              <a:t>DIDComm Transport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Routes through ATM mediator via DIDCommBridge::send_and_wait()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Protocol: https://affinidi.com/webvh/1.0/did/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did/request  →  did/offer       (allocate URI)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did/publish  →  did/confirm     (publish did.jsonl)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did/delete   →  did/delete-confirm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Errors: did/problem-report    (30s timeout per operation)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566160"/>
            <a:ext cx="5486400" cy="256032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8BC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400" b="1">
                <a:solidFill>
                  <a:srgbClr val="1B3A5C"/>
                </a:solidFill>
                <a:latin typeface="Calibri"/>
              </a:rPr>
              <a:t>DID Lifecycle via VTA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1. Derive Ed25519 + X25519 keys in a context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2. Request DID URI from WebVH server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3. Build DID document with verification methods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   (authentication, assertionMethod, keyAgreement)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4. Add service endpoints (mediator, REST)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7. Serverless mode: self-host DID document + log locally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8. Store DID record and logs in fjall webvh keyspace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9. Update/deactivate via signed log entries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Communication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280160"/>
            <a:ext cx="1828800" cy="82296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400" b="1">
                <a:solidFill>
                  <a:srgbClr val="1B3A5C"/>
                </a:solidFill>
                <a:latin typeface="Calibri"/>
              </a:rPr>
              <a:t>PNM CLI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REST + DIDComm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2377440"/>
            <a:ext cx="1828800" cy="82296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400" b="1">
                <a:solidFill>
                  <a:srgbClr val="1B3A5C"/>
                </a:solidFill>
                <a:latin typeface="Calibri"/>
              </a:rPr>
              <a:t>CNM CLI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REST + DIDComm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64592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2E75B6"/>
                </a:solidFill>
                <a:latin typeface="Calibri"/>
              </a:rPr>
              <a:t>── DIDComm ─▶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46888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09688"/>
                </a:solidFill>
                <a:latin typeface="Calibri"/>
              </a:rPr>
              <a:t>─── REST ──▶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23360" y="1280160"/>
            <a:ext cx="2011680" cy="109728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400" b="1">
                <a:solidFill>
                  <a:srgbClr val="1B3A5C"/>
                </a:solidFill>
                <a:latin typeface="Calibri"/>
              </a:rPr>
              <a:t>ATM Mediator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WebSocket relay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Message pickup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4630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2E75B6"/>
                </a:solidFill>
                <a:latin typeface="Calibri"/>
              </a:rPr>
              <a:t>◀───▶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1097280"/>
            <a:ext cx="2194560" cy="146304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400" b="1">
                <a:solidFill>
                  <a:srgbClr val="1B3A5C"/>
                </a:solidFill>
                <a:latin typeface="Calibri"/>
              </a:rPr>
              <a:t>VTA Service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REST: 0.0.0.0:8100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DIDComm: via ATM WS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fjall KV store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1463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8BC34A"/>
                </a:solidFill>
                <a:latin typeface="Calibri"/>
              </a:rPr>
              <a:t>◀──▶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0" y="1097280"/>
            <a:ext cx="1828800" cy="146304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8BC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400" b="1">
                <a:solidFill>
                  <a:srgbClr val="1B3A5C"/>
                </a:solidFill>
                <a:latin typeface="Calibri"/>
              </a:rPr>
              <a:t>WebVH Server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REST API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DIDComm via ATM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32004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009688"/>
                </a:solidFill>
                <a:latin typeface="Calibri"/>
              </a:rPr>
              <a:t>CLI ──────────────  Direct REST (HTTPS)  ──────────────▶ VTA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84048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800" b="1">
                <a:solidFill>
                  <a:srgbClr val="2E75B6"/>
                </a:solidFill>
                <a:latin typeface="Calibri"/>
              </a:rPr>
              <a:t>Two Communication Paths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DIDComm Path: End-to-end encrypted messages routed through ATM mediator (WebSocket)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666666"/>
                </a:solidFill>
                <a:latin typeface="Calibri"/>
              </a:rPr>
              <a:t>  • CLI packs message → mediator relays → VTA unpacks and processes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666666"/>
                </a:solidFill>
                <a:latin typeface="Calibri"/>
              </a:rPr>
              <a:t>  • VTA → mediator → WebVH for DID operations (same encrypted path)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REST Path: Direct HTTPS to VTA service (JWT-authenticated after challenge-response)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666666"/>
                </a:solidFill>
                <a:latin typeface="Calibri"/>
              </a:rPr>
              <a:t>  • Simpler, lower latency for direct access scenarios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VTA SDK: Abstracts transport selection — same API regardless of path chosen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Authentication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97280"/>
            <a:ext cx="5669280" cy="36576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400" b="1">
                <a:solidFill>
                  <a:srgbClr val="1B3A5C"/>
                </a:solidFill>
                <a:latin typeface="Calibri"/>
              </a:rPr>
              <a:t>REST Authentication — DID Challenge-Response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1. POST /auth/challenge { did }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   → VTA creates ChallengeSent session (TTL: 300s)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   → Returns { session_id, challenge }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2. Client builds DIDComm v2 message: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   type: atm/1.0/authenticate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   body: { challenge, session_id }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   from: client_did, to: vta_did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   → pack_encrypted() produces ciphertext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3. POST /auth/ { packed_message }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   → VTA unpacks, verifies challenge + DID match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   → Looks up ACL entry for sender DID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   → Issues EdDSA JWT (15 min) + refresh token (24 hr)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4. Authorization: Bearer {JWT} on subsequent requests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5. POST /auth/refresh { refresh_token }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   → Re-reads ACL (role/contexts may have changed)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   → Issues new access token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097280"/>
            <a:ext cx="5486400" cy="201168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400" b="1">
                <a:solidFill>
                  <a:srgbClr val="1B3A5C"/>
                </a:solidFill>
                <a:latin typeface="Calibri"/>
              </a:rPr>
              <a:t>DIDComm Authentication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Inherent — no separate auth step needed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Message::unpack() verifies sender signature + resolves DID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ACL looked up by 'from' DID (fragment stripped)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Same role/context rules as REST path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Every DIDComm message is authenticated by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3474720"/>
            <a:ext cx="5486400" cy="256032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400" b="1">
                <a:solidFill>
                  <a:srgbClr val="1B3A5C"/>
                </a:solidFill>
                <a:latin typeface="Calibri"/>
              </a:rPr>
              <a:t>ACL Roles &amp; Privilege Model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Admin  —  Full CRUD on keys, ACL, contexts, config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  Super Admin: allowed_contexts = [] (unrestricted)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  Context Admin: scoped to named contexts only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Initiator  —  Can manage ACL entries, view all resources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Application  —  Read-only access to keys, contexts, config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Escalation prevention: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  Context admins cannot grant broader contexts than their own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  Cannot create entries with empty allowed_contexts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5029200"/>
            <a:ext cx="5669280" cy="109728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400" b="1">
                <a:solidFill>
                  <a:srgbClr val="1B3A5C"/>
                </a:solidFill>
                <a:latin typeface="Calibri"/>
              </a:rPr>
              <a:t>JWT Claims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{ aud: "VTA", sub: "did:...", session_id: "uuid",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  role: "admin", contexts: ["vta", "mediator"], exp: ... }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Signed with random Ed25519 key (PKCS8 DER / SPKI DER)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Data Flow — Create a did:webvh via DIDComm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411480" cy="41148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51560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09688"/>
                </a:solidFill>
                <a:latin typeface="Calibri"/>
              </a:rPr>
              <a:t>PNM CLI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10058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33333"/>
                </a:solidFill>
                <a:latin typeface="Calibri"/>
              </a:rPr>
              <a:t>User runs: pnm webvh create-did</a:t>
            </a:r>
          </a:p>
          <a:p>
            <a:r>
              <a:rPr sz="1100" b="0">
                <a:solidFill>
                  <a:srgbClr val="333333"/>
                </a:solidFill>
                <a:latin typeface="Calibri"/>
              </a:rPr>
              <a:t>Selects server, context, and options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874520"/>
            <a:ext cx="411480" cy="41148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Calibri"/>
              </a:rPr>
              <a:t>VTA SDK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78308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33333"/>
                </a:solidFill>
                <a:latin typeface="Calibri"/>
              </a:rPr>
              <a:t>SDK packs DIDComm message:</a:t>
            </a:r>
          </a:p>
          <a:p>
            <a:r>
              <a:rPr sz="1100" b="0">
                <a:solidFill>
                  <a:srgbClr val="333333"/>
                </a:solidFill>
                <a:latin typeface="Calibri"/>
              </a:rPr>
              <a:t>from: user_did, to: vta_did</a:t>
            </a:r>
          </a:p>
          <a:p>
            <a:r>
              <a:rPr sz="1100" b="0">
                <a:solidFill>
                  <a:srgbClr val="333333"/>
                </a:solidFill>
                <a:latin typeface="Calibri"/>
              </a:rPr>
              <a:t>Routes through mediator WebSocket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651759"/>
            <a:ext cx="411480" cy="41148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06039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09688"/>
                </a:solidFill>
                <a:latin typeface="Calibri"/>
              </a:rPr>
              <a:t>VTA Service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60319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33333"/>
                </a:solidFill>
                <a:latin typeface="Calibri"/>
              </a:rPr>
              <a:t>vta-didcomm thread receives message</a:t>
            </a:r>
          </a:p>
          <a:p>
            <a:r>
              <a:rPr sz="1100" b="0">
                <a:solidFill>
                  <a:srgbClr val="333333"/>
                </a:solidFill>
                <a:latin typeface="Calibri"/>
              </a:rPr>
              <a:t>Derives new Ed25519 + X25519 keys</a:t>
            </a:r>
          </a:p>
          <a:p>
            <a:r>
              <a:rPr sz="1100" b="0">
                <a:solidFill>
                  <a:srgbClr val="333333"/>
                </a:solidFill>
                <a:latin typeface="Calibri"/>
              </a:rPr>
              <a:t>Builds DID document with endpoints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428999"/>
            <a:ext cx="411480" cy="411480"/>
          </a:xfrm>
          <a:prstGeom prst="ellipse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383279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8BC34A"/>
                </a:solidFill>
                <a:latin typeface="Calibri"/>
              </a:rPr>
              <a:t>VTA → WebVH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337559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33333"/>
                </a:solidFill>
                <a:latin typeface="Calibri"/>
              </a:rPr>
              <a:t>VTA sends did/request via DIDComm</a:t>
            </a:r>
          </a:p>
          <a:p>
            <a:r>
              <a:rPr sz="1100" b="0">
                <a:solidFill>
                  <a:srgbClr val="333333"/>
                </a:solidFill>
                <a:latin typeface="Calibri"/>
              </a:rPr>
              <a:t>(or REST) to WebVH server</a:t>
            </a:r>
          </a:p>
          <a:p>
            <a:r>
              <a:rPr sz="1100" b="0">
                <a:solidFill>
                  <a:srgbClr val="333333"/>
                </a:solidFill>
                <a:latin typeface="Calibri"/>
              </a:rPr>
              <a:t>Receives did/offer with allocated URI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4206240"/>
            <a:ext cx="411480" cy="411480"/>
          </a:xfrm>
          <a:prstGeom prst="ellipse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160520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8BC34A"/>
                </a:solidFill>
                <a:latin typeface="Calibri"/>
              </a:rPr>
              <a:t>VTA → WebVH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411480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33333"/>
                </a:solidFill>
                <a:latin typeface="Calibri"/>
              </a:rPr>
              <a:t>VTA signs did.jsonl log entry</a:t>
            </a:r>
          </a:p>
          <a:p>
            <a:r>
              <a:rPr sz="1100" b="0">
                <a:solidFill>
                  <a:srgbClr val="333333"/>
                </a:solidFill>
                <a:latin typeface="Calibri"/>
              </a:rPr>
              <a:t>Sends did/publish to WebVH</a:t>
            </a:r>
          </a:p>
          <a:p>
            <a:r>
              <a:rPr sz="1100" b="0">
                <a:solidFill>
                  <a:srgbClr val="333333"/>
                </a:solidFill>
                <a:latin typeface="Calibri"/>
              </a:rPr>
              <a:t>Receives did/confirm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4983480"/>
            <a:ext cx="411480" cy="41148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937760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09688"/>
                </a:solidFill>
                <a:latin typeface="Calibri"/>
              </a:rPr>
              <a:t>VTA Service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48920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33333"/>
                </a:solidFill>
                <a:latin typeface="Calibri"/>
              </a:rPr>
              <a:t>Stores key records in fjall keys KS</a:t>
            </a:r>
          </a:p>
          <a:p>
            <a:r>
              <a:rPr sz="1100" b="0">
                <a:solidFill>
                  <a:srgbClr val="333333"/>
                </a:solidFill>
                <a:latin typeface="Calibri"/>
              </a:rPr>
              <a:t>Stores DID record in webvh KS</a:t>
            </a:r>
          </a:p>
          <a:p>
            <a:r>
              <a:rPr sz="1100" b="0">
                <a:solidFill>
                  <a:srgbClr val="333333"/>
                </a:solidFill>
                <a:latin typeface="Calibri"/>
              </a:rPr>
              <a:t>Prepares response message</a:t>
            </a:r>
          </a:p>
        </p:txBody>
      </p:sp>
      <p:sp>
        <p:nvSpPr>
          <p:cNvPr id="21" name="Oval 20"/>
          <p:cNvSpPr/>
          <p:nvPr/>
        </p:nvSpPr>
        <p:spPr>
          <a:xfrm>
            <a:off x="457200" y="5760720"/>
            <a:ext cx="411480" cy="41148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715000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Calibri"/>
              </a:rPr>
              <a:t>VTA → PNM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566928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33333"/>
                </a:solidFill>
                <a:latin typeface="Calibri"/>
              </a:rPr>
              <a:t>VTA packs DIDComm response</a:t>
            </a:r>
          </a:p>
          <a:p>
            <a:r>
              <a:rPr sz="1100" b="0">
                <a:solidFill>
                  <a:srgbClr val="333333"/>
                </a:solidFill>
                <a:latin typeface="Calibri"/>
              </a:rPr>
              <a:t>Routes through mediator to CLI</a:t>
            </a:r>
          </a:p>
          <a:p>
            <a:r>
              <a:rPr sz="1100" b="0">
                <a:solidFill>
                  <a:srgbClr val="333333"/>
                </a:solidFill>
                <a:latin typeface="Calibri"/>
              </a:rPr>
              <a:t>PNM displays new DID to user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Setup &amp; Configuration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97280"/>
            <a:ext cx="5669280" cy="512064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400" b="1">
                <a:solidFill>
                  <a:srgbClr val="1B3A5C"/>
                </a:solidFill>
                <a:latin typeface="Calibri"/>
              </a:rPr>
              <a:t>VTA Setup Wizard  (pnm setup)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 1.  Config file path (default: config.toml)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 2.  VTA name (optional community name)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 3.  Services: REST API, DIDComm Messaging (multi-select)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 4.  Public URL, host, port (if REST enabled)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 5.  Log level + format (text/json)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 6.  Data directory (opens fjall store)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 7.  Creates default 'vta' application context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 8.  BIP-39 mnemonic: generate 24-word or import existing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 9.  Seed storage backend selection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10.  JWT signing key generation (random Ed25519)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11.  DIDComm: use existing mediator / create did:webvh / skip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12.  VTA DID: create did:webvh / enter existing / skip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13.  Admin DID: generate did:key / create did:webvh / enter / skip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14.  Bootstrap ACL with admin entry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15.  Persist store + save config.toml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Feature-gated: requires 'setup' feature (excludes dialoguer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from production builds)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097280"/>
            <a:ext cx="5486400" cy="292608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400" b="1">
                <a:solidFill>
                  <a:srgbClr val="1B3A5C"/>
                </a:solidFill>
                <a:latin typeface="Calibri"/>
              </a:rPr>
              <a:t>config.toml Structure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[vta]         —  did, name, public_url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[services]    —  rest (bool), didcomm (bool)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[server]      —  host, port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[store]       —  data_dir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[auth]        —  jwt_signing_key, challenge_ttl, session_ttl,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                 session_cleanup_interval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[secrets]     —  seed storage backend config (runtime-selectable)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[messaging]   —  mediator_did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[log]         —  level, format (text/json)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Env var overrides: VTA_{SECTION}_{KEY} (e.g., VTA_REST_PORT)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4389120"/>
            <a:ext cx="5486400" cy="164592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400" b="1">
                <a:solidFill>
                  <a:srgbClr val="1B3A5C"/>
                </a:solidFill>
                <a:latin typeface="Calibri"/>
              </a:rPr>
              <a:t>CLI Setup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PNM: pnm setup — prompts for credential + VTA URL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     Stores auth credential in OS keyring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CNM: cnm setup — interactive community add flow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     Per-community keyring entries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     Optional personal_vta pointer for bootstrap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Infrastructure &amp; Dependencies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97280"/>
            <a:ext cx="3657600" cy="27432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400" b="1">
                <a:solidFill>
                  <a:srgbClr val="1B3A5C"/>
                </a:solidFill>
                <a:latin typeface="Calibri"/>
              </a:rPr>
              <a:t>Seed Storage Backends (runtime-selectable)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1. AWS Secrets Manager  (feature: aws-secrets)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2. GCP Secret Manager   (feature: gcp-secrets)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3. Azure Key Vault      (feature: azure-secrets)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4. Config file          (feature: config-seed)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5. OS Keyring           (feature: keyring)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6. Plaintext file       (always compiled)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All store hex-encoded seed/secret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Selected via config.toml [secrets] section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80" y="1097280"/>
            <a:ext cx="3657600" cy="27432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400" b="1">
                <a:solidFill>
                  <a:srgbClr val="1B3A5C"/>
                </a:solidFill>
                <a:latin typeface="Calibri"/>
              </a:rPr>
              <a:t>Cryptography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Ed25519  —  Digital signatures (signing keys)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X25519   —  Key agreement (DIDComm encryption)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BIP-32   —  HD key derivation (via ed25519-dalek-bip32)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BIP-39   —  Mnemonic seed phrase (24 words)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EdDSA    —  JWT signing (jsonwebtoken 10)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PKCS8 v1 —  Ed25519 private key DER encoding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SPKI     —  Ed25519 public key DER encoding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DIDComm v2 envelope encryption via affinidi-tdk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1097280"/>
            <a:ext cx="3657600" cy="27432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400" b="1">
                <a:solidFill>
                  <a:srgbClr val="1B3A5C"/>
                </a:solidFill>
                <a:latin typeface="Calibri"/>
              </a:rPr>
              <a:t>External Services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ATM Mediator —  DIDComm message routing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  WebSocket-based, live delivery + pickup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DID Resolver Cache —  DID document resolution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  affinidi-did-resolver-cache-sdk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  In-memory cache with TTL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WebVH Server —  did:webvh hosting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  REST + DIDComm transport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4114800"/>
            <a:ext cx="11521440" cy="22860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400" b="1">
                <a:solidFill>
                  <a:srgbClr val="1B3A5C"/>
                </a:solidFill>
                <a:latin typeface="Calibri"/>
              </a:rPr>
              <a:t>Key Rust Dependencies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affinidi-tdk 0.6             —  DIDComm messaging, secrets resolver, DID crypto, ATM client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affinidi-did-resolver-cache-sdk 0.8  —  DID resolution (in-memory cache with TTL)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axum 0.8 + axum-extra 0.12   —  HTTP framework (typed headers, Authorization&lt;Bearer&gt;)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fjall                         —  Embedded LSM-tree KV store (keys, sessions, acl, contexts, webvh keyspaces)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jsonwebtoken 10 (rust_crypto) —  EdDSA JWT creation + validation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didwebvh-rs 0.3               —  did:webvh create, update, deactivate (incl. serverless)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azure_security_keyvault_secrets / azure_identity  —  Azure Key Vault integration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333333"/>
                </a:solidFill>
                <a:latin typeface="Calibri"/>
              </a:rPr>
              <a:t>  dialoguer (setup feature)     —  Interactive terminal prompts for setup wizard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